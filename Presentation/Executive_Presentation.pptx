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F7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AnalystLab Africa Experience Lab | SwiftLog Week 5 | Data Science Track | T. J. Gumbo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7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7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60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B63"/>
                </a:solidFill>
              </a:rPr>
              <a:t>SwiftLog Logistics Analytics &amp; AI Transformation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05840" y="178308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17"/>
                </a:solidFill>
              </a:rPr>
              <a:t>Week 5 — Supply Chain Intelligence &amp; Feature Engineering for Predictive Logistics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011680" y="2743200"/>
            <a:ext cx="8138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0242A"/>
                </a:solidFill>
              </a:rPr>
              <a:t>Takudzwa Jeffrey Gumbo (TJ)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0242A"/>
                </a:solidFill>
              </a:rPr>
              <a:t>Data Science Track | AnalystLab Africa Experience Lab — Batch 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54680" y="4069080"/>
            <a:ext cx="5852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29000" y="4325112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3B63"/>
                </a:solidFill>
              </a:rPr>
              <a:t>Goal: turn imperfect logistics data into a validated analytical and feature-engineering foundation for future ML.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7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problem &amp; analytical objectives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7782"/>
                </a:solidFill>
              </a:rPr>
              <a:t>SwiftLog needs operational visibility before investing in predictive AI.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06424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1060704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20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 customers, orders, products, inventory, shipments, deliveries, warehouses, employees and returns.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20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delivery, demand, customer-value, product and warehouse patterns.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20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descriptive and inferential statistics — including unsupported hypotheses.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20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 defensible features for future delay prediction, demand forecasting and return-risk modelling.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20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data gaps instead of fabricating supplier or capacity relationships.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828800" y="5532120"/>
            <a:ext cx="8503920" cy="502920"/>
          </a:xfrm>
          <a:prstGeom prst="roundRect">
            <a:avLst/>
          </a:prstGeom>
          <a:solidFill>
            <a:srgbClr val="FFF8E5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38528" y="5623560"/>
            <a:ext cx="8284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42A"/>
                </a:solidFill>
              </a:rPr>
              <a:t>Consulting principle: a missing relationship is a data-quality finding, not permission to invent a join.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7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landscape &amp; relationship model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7782"/>
                </a:solidFill>
              </a:rPr>
              <a:t>12 supplied CSV files; operational links validated with zero unmatched child foreign keys.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06424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pic>
        <p:nvPicPr>
          <p:cNvPr id="5" name="Image 0" descr="/mnt/data/Week5_DataScience_SwiftLog_TakudzwaGumbo_FINAL/Visualizations/Charts/fig01_dataset_relationship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25880"/>
            <a:ext cx="7406640" cy="4709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75320" y="1554480"/>
            <a:ext cx="324612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350" dirty="0">
                <a:solidFill>
                  <a:srgbClr val="20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5,000 orders and shipments</a:t>
            </a:r>
            <a:endParaRPr lang="en-US" sz="1350" dirty="0"/>
          </a:p>
          <a:p>
            <a:pPr marL="228600" indent="-228600">
              <a:buSzPct val="100000"/>
              <a:buChar char="•"/>
            </a:pPr>
            <a:r>
              <a:rPr lang="en-US" sz="1350" dirty="0">
                <a:solidFill>
                  <a:srgbClr val="20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15,000 order-item rows</a:t>
            </a:r>
            <a:endParaRPr lang="en-US" sz="1350" dirty="0"/>
          </a:p>
          <a:p>
            <a:pPr marL="228600" indent="-228600">
              <a:buSzPct val="100000"/>
              <a:buChar char="•"/>
            </a:pPr>
            <a:r>
              <a:rPr lang="en-US" sz="1350" dirty="0">
                <a:solidFill>
                  <a:srgbClr val="20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1,000 customers; 250 products</a:t>
            </a:r>
            <a:endParaRPr lang="en-US" sz="1350" dirty="0"/>
          </a:p>
          <a:p>
            <a:pPr marL="228600" indent="-228600">
              <a:buSzPct val="100000"/>
              <a:buChar char="•"/>
            </a:pPr>
            <a:r>
              <a:rPr lang="en-US" sz="1350" dirty="0">
                <a:solidFill>
                  <a:srgbClr val="20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warehouses; 200 employees</a:t>
            </a:r>
            <a:endParaRPr lang="en-US" sz="1350" dirty="0"/>
          </a:p>
          <a:p>
            <a:pPr marL="228600" indent="-228600">
              <a:buSzPct val="100000"/>
              <a:buChar char="•"/>
            </a:pPr>
            <a:r>
              <a:rPr lang="en-US" sz="1350" dirty="0">
                <a:solidFill>
                  <a:srgbClr val="20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150 suppliers — standalone</a:t>
            </a:r>
            <a:endParaRPr lang="en-US" sz="1350" dirty="0"/>
          </a:p>
          <a:p>
            <a:pPr marL="228600" indent="-228600">
              <a:buSzPct val="100000"/>
              <a:buChar char="•"/>
            </a:pPr>
            <a:r>
              <a:rPr lang="en-US" sz="1350" dirty="0">
                <a:solidFill>
                  <a:srgbClr val="20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 return records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275320" y="4663440"/>
            <a:ext cx="3246120" cy="914400"/>
          </a:xfrm>
          <a:prstGeom prst="roundRect">
            <a:avLst/>
          </a:prstGeom>
          <a:solidFill>
            <a:srgbClr val="FFF8E5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85048" y="4754880"/>
            <a:ext cx="3026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42A"/>
                </a:solidFill>
              </a:rPr>
              <a:t>236 orders have no Order_Items record. They are preserved and explicitly flagged rather than silently dropped.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7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quality decisions &amp; assumptions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7782"/>
                </a:solidFill>
              </a:rPr>
              <a:t>Official AnalystLab guidance was applied directly.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06424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17320"/>
          <a:ext cx="10789920" cy="4206240"/>
        </p:xfrm>
        <a:graphic>
          <a:graphicData uri="http://schemas.openxmlformats.org/drawingml/2006/table">
            <a:tbl>
              <a:tblPr/>
              <a:tblGrid>
                <a:gridCol w="2286000"/>
                <a:gridCol w="850392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42A"/>
                          </a:solidFill>
                        </a:rPr>
                        <a:t>Issue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42A"/>
                          </a:solidFill>
                        </a:rPr>
                        <a:t>Decision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42A"/>
                          </a:solidFill>
                        </a:rPr>
                        <a:t>Supplier link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42A"/>
                          </a:solidFill>
                        </a:rPr>
                        <a:t>Keep standalone; no supplier score fabricated.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42A"/>
                          </a:solidFill>
                        </a:rPr>
                        <a:t>Warehouse capacity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42A"/>
                          </a:solidFill>
                        </a:rPr>
                        <a:t>Use clearly labelled load proxies only.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42A"/>
                          </a:solidFill>
                        </a:rPr>
                        <a:t>Inventory repeats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42A"/>
                          </a:solidFill>
                        </a:rPr>
                        <a:t>Treat as stock movements; aggregate separately.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42A"/>
                          </a:solidFill>
                        </a:rPr>
                        <a:t>Returns grain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42A"/>
                          </a:solidFill>
                        </a:rPr>
                        <a:t>Order-level only; no true product return rate.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42A"/>
                          </a:solidFill>
                        </a:rPr>
                        <a:t>Data dictionary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42A"/>
                          </a:solidFill>
                        </a:rPr>
                        <a:t>Infer cautiously and document assumptions.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42A"/>
                          </a:solidFill>
                        </a:rPr>
                        <a:t>Order-item gap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42A"/>
                          </a:solidFill>
                        </a:rPr>
                        <a:t>Retain all 5,000 orders; flag 236 without items.</a:t>
                      </a:r>
                      <a:endParaRPr lang="en-US" sz="14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1417320"/>
            <a:ext cx="10789920" cy="512064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5361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Issue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971800" y="15361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7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Demand &amp; revenue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7782"/>
                </a:solidFill>
              </a:rPr>
              <a:t>Observed revenue is calculated only where order-item detail exists.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06424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435608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3B63"/>
                </a:solidFill>
              </a:rPr>
              <a:t>$21.67m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04088" y="1828800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F7782"/>
                </a:solidFill>
              </a:rPr>
              <a:t>OBSERVED REVENUE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88920" y="132588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8648" y="1435608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3B63"/>
                </a:solidFill>
              </a:rPr>
              <a:t>$4,548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2898648" y="1828800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F7782"/>
                </a:solidFill>
              </a:rPr>
              <a:t>AVG ORDER VALUE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983480" y="132588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93208" y="1435608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3B63"/>
                </a:solidFill>
              </a:rPr>
              <a:t>August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5093208" y="1828800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F7782"/>
                </a:solidFill>
              </a:rPr>
              <a:t>PEAK MONTH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56632" y="2039112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7782"/>
                </a:solidFill>
              </a:rPr>
              <a:t>654 orders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178040" y="132588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87768" y="1435608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3B63"/>
                </a:solidFill>
              </a:rPr>
              <a:t>Fashion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7287768" y="1828800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F7782"/>
                </a:solidFill>
              </a:rPr>
              <a:t>TOP CATEGORY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251192" y="2039112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7782"/>
                </a:solidFill>
              </a:rPr>
              <a:t>$8.06m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9372600" y="132588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82328" y="1435608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3B63"/>
                </a:solidFill>
              </a:rPr>
              <a:t>P040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9482328" y="1828800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F7782"/>
                </a:solidFill>
              </a:rPr>
              <a:t>TOP PRODUCT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445752" y="2039112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7782"/>
                </a:solidFill>
              </a:rPr>
              <a:t>$191k</a:t>
            </a:r>
            <a:endParaRPr lang="en-US" sz="750" dirty="0"/>
          </a:p>
        </p:txBody>
      </p:sp>
      <p:pic>
        <p:nvPicPr>
          <p:cNvPr id="23" name="Image 0" descr="/mnt/data/Week5_DataScience_SwiftLog_TakudzwaGumbo_FINAL/Visualizations/Charts/fig03_monthly_or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606040"/>
            <a:ext cx="5303520" cy="3246120"/>
          </a:xfrm>
          <a:prstGeom prst="rect">
            <a:avLst/>
          </a:prstGeom>
        </p:spPr>
      </p:pic>
      <p:pic>
        <p:nvPicPr>
          <p:cNvPr id="24" name="Image 1" descr="/mnt/data/Week5_DataScience_SwiftLog_TakudzwaGumbo_FINAL/Visualizations/Charts/fig06_category_reven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606040"/>
            <a:ext cx="5303520" cy="3246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7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Delivery performance is the main operational signal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7782"/>
                </a:solidFill>
              </a:rPr>
              <a:t>Nearly two thirds of shipments are labelled delayed.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06424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435608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3B63"/>
                </a:solidFill>
              </a:rPr>
              <a:t>63.7%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04088" y="182880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F7782"/>
                </a:solidFill>
              </a:rPr>
              <a:t>DELAYED RATE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132588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55848" y="1435608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3B63"/>
                </a:solidFill>
              </a:rPr>
              <a:t>3.57 days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3355848" y="182880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F7782"/>
                </a:solidFill>
              </a:rPr>
              <a:t>AVG DELAY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897880" y="132588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07608" y="1435608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3B63"/>
                </a:solidFill>
              </a:rPr>
              <a:t>W01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007608" y="182880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F7782"/>
                </a:solidFill>
              </a:rPr>
              <a:t>LOWEST OBSERVED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71032" y="2039112"/>
            <a:ext cx="2322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7782"/>
                </a:solidFill>
              </a:rPr>
              <a:t>58.7% delayed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8549640" y="132588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59368" y="1435608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3B63"/>
                </a:solidFill>
              </a:rPr>
              <a:t>W05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8659368" y="182880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F7782"/>
                </a:solidFill>
              </a:rPr>
              <a:t>HIGHEST OBSERVED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622792" y="2039112"/>
            <a:ext cx="2322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F7782"/>
                </a:solidFill>
              </a:rPr>
              <a:t>68.0% delayed</a:t>
            </a:r>
            <a:endParaRPr lang="en-US" sz="750" dirty="0"/>
          </a:p>
        </p:txBody>
      </p:sp>
      <p:pic>
        <p:nvPicPr>
          <p:cNvPr id="19" name="Image 0" descr="/mnt/data/Week5_DataScience_SwiftLog_TakudzwaGumbo_FINAL/Visualizations/Charts/fig12_warehouse_delay_r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606040"/>
            <a:ext cx="6583680" cy="315468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7543800" y="2971800"/>
            <a:ext cx="3886200" cy="2103120"/>
          </a:xfrm>
          <a:prstGeom prst="roundRect">
            <a:avLst/>
          </a:prstGeom>
          <a:solidFill>
            <a:srgbClr val="FFF8E5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53528" y="3063240"/>
            <a:ext cx="36667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42A"/>
                </a:solidFill>
              </a:rPr>
              <a:t>Important: the Kruskal-Wallis test finds no statistically significant warehouse delay-distribution difference (p = 0.759). Use warehouse ranking for monitoring, not causal blame.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7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Returns, inventory &amp; workforce patterns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7782"/>
                </a:solidFill>
              </a:rPr>
              <a:t>Some requested KPIs can only be approximated because key fields are missing.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06424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pic>
        <p:nvPicPr>
          <p:cNvPr id="5" name="Image 0" descr="/mnt/data/Week5_DataScience_SwiftLog_TakudzwaGumbo_FINAL/Visualizations/Charts/fig17_return_reas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17320"/>
            <a:ext cx="3657600" cy="2971800"/>
          </a:xfrm>
          <a:prstGeom prst="rect">
            <a:avLst/>
          </a:prstGeom>
        </p:spPr>
      </p:pic>
      <p:pic>
        <p:nvPicPr>
          <p:cNvPr id="6" name="Image 1" descr="/mnt/data/Week5_DataScience_SwiftLog_TakudzwaGumbo_FINAL/Visualizations/Charts/fig14_warehouse_inventory_load_prox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417320"/>
            <a:ext cx="3657600" cy="2971800"/>
          </a:xfrm>
          <a:prstGeom prst="rect">
            <a:avLst/>
          </a:prstGeom>
        </p:spPr>
      </p:pic>
      <p:pic>
        <p:nvPicPr>
          <p:cNvPr id="7" name="Image 2" descr="/mnt/data/Week5_DataScience_SwiftLog_TakudzwaGumbo_FINAL/Visualizations/Charts/fig16_staffing_vs_shipmen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417320"/>
            <a:ext cx="3474720" cy="29718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7240" y="4709160"/>
            <a:ext cx="1069848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20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Returned-order rate: 9.5%. Late Delivery is the largest stated reason (185 records).</a:t>
            </a:r>
            <a:endParaRPr lang="en-US" sz="1250" dirty="0"/>
          </a:p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20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 load is a proxy based on aggregated stock movements — not true capacity utilisation.</a:t>
            </a:r>
            <a:endParaRPr lang="en-US" sz="1250" dirty="0"/>
          </a:p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20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 inventory turnover is unavailable without dated inventory/average stock; only a labelled proxy is provided.</a:t>
            </a:r>
            <a:endParaRPr lang="en-US" sz="1250" dirty="0"/>
          </a:p>
          <a:p>
            <a:pPr marL="228600" indent="-228600">
              <a:buSzPct val="100000"/>
              <a:buChar char="•"/>
            </a:pPr>
            <a:r>
              <a:rPr lang="en-US" sz="1250" dirty="0">
                <a:solidFill>
                  <a:srgbClr val="20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Returns lack ProductID/OrderItemID, so true product return rates cannot be calculated.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7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Statistical tests: plausible patterns were not automatically treated as facts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7782"/>
                </a:solidFill>
              </a:rPr>
              <a:t>All three pre-defined business hypotheses failed to reject their nulls.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06424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17320"/>
          <a:ext cx="10789920" cy="224028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1371600"/>
                <a:gridCol w="301752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42A"/>
                          </a:solidFill>
                        </a:rPr>
                        <a:t>Question</a:t>
                      </a:r>
                      <a:endParaRPr lang="en-US" sz="13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42A"/>
                          </a:solidFill>
                        </a:rPr>
                        <a:t>Test</a:t>
                      </a:r>
                      <a:endParaRPr lang="en-US" sz="13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42A"/>
                          </a:solidFill>
                        </a:rPr>
                        <a:t>p-value</a:t>
                      </a:r>
                      <a:endParaRPr lang="en-US" sz="13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42A"/>
                          </a:solidFill>
                        </a:rPr>
                        <a:t>Conclusion</a:t>
                      </a:r>
                      <a:endParaRPr lang="en-US" sz="13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42A"/>
                          </a:solidFill>
                        </a:rPr>
                        <a:t>Delay differs across warehouses</a:t>
                      </a:r>
                      <a:endParaRPr lang="en-US" sz="13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42A"/>
                          </a:solidFill>
                        </a:rPr>
                        <a:t>Kruskal-Wallis</a:t>
                      </a:r>
                      <a:endParaRPr lang="en-US" sz="13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42A"/>
                          </a:solidFill>
                        </a:rPr>
                        <a:t>0.759</a:t>
                      </a:r>
                      <a:endParaRPr lang="en-US" sz="13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42A"/>
                          </a:solidFill>
                        </a:rPr>
                        <a:t>Not supported</a:t>
                      </a:r>
                      <a:endParaRPr lang="en-US" sz="13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42A"/>
                          </a:solidFill>
                        </a:rPr>
                        <a:t>Returned orders have different delay</a:t>
                      </a:r>
                      <a:endParaRPr lang="en-US" sz="13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42A"/>
                          </a:solidFill>
                        </a:rPr>
                        <a:t>Mann-Whitney U</a:t>
                      </a:r>
                      <a:endParaRPr lang="en-US" sz="13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42A"/>
                          </a:solidFill>
                        </a:rPr>
                        <a:t>0.983</a:t>
                      </a:r>
                      <a:endParaRPr lang="en-US" sz="13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42A"/>
                          </a:solidFill>
                        </a:rPr>
                        <a:t>Not supported</a:t>
                      </a:r>
                      <a:endParaRPr lang="en-US" sz="13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42A"/>
                          </a:solidFill>
                        </a:rPr>
                        <a:t>Order revenue differs by customer city</a:t>
                      </a:r>
                      <a:endParaRPr lang="en-US" sz="13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42A"/>
                          </a:solidFill>
                        </a:rPr>
                        <a:t>Kruskal-Wallis</a:t>
                      </a:r>
                      <a:endParaRPr lang="en-US" sz="13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42A"/>
                          </a:solidFill>
                        </a:rPr>
                        <a:t>0.330</a:t>
                      </a:r>
                      <a:endParaRPr lang="en-US" sz="13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0242A"/>
                          </a:solidFill>
                        </a:rPr>
                        <a:t>Not supported</a:t>
                      </a:r>
                      <a:endParaRPr lang="en-US" sz="135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1417320"/>
            <a:ext cx="10789920" cy="530352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5544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Question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754880" y="15544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Test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995160" y="15544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p-value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75320" y="15544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Conclusion</a:t>
            </a:r>
            <a:endParaRPr lang="en-US" sz="1300" dirty="0"/>
          </a:p>
        </p:txBody>
      </p:sp>
      <p:pic>
        <p:nvPicPr>
          <p:cNvPr id="11" name="Image 0" descr="/mnt/data/Week5_DataScience_SwiftLog_TakudzwaGumbo_FINAL/Visualizations/Charts/fig18_delay_vs_retur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931920"/>
            <a:ext cx="4389120" cy="21488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897880" y="4251960"/>
            <a:ext cx="4800600" cy="1188720"/>
          </a:xfrm>
          <a:prstGeom prst="roundRect">
            <a:avLst/>
          </a:prstGeom>
          <a:solidFill>
            <a:srgbClr val="FFF8E5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007608" y="4343400"/>
            <a:ext cx="4581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42A"/>
                </a:solidFill>
              </a:rPr>
              <a:t>Null findings are results. They prevent us from overstating descriptive warehouse differences or claiming delay alone explains returns.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7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engineering &amp; ML readiness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7782"/>
                </a:solidFill>
              </a:rPr>
              <a:t>The final analytical dataset preserves all 5,000 orders.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06424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662940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450" dirty="0">
                <a:solidFill>
                  <a:srgbClr val="20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OrderRevenue, TotalUnits, DistinctProducts, UniqueCategories and DominantCategory.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dirty="0">
                <a:solidFill>
                  <a:srgbClr val="20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Strictly prior customer features: PriorCustomerOrders, PriorCustomerSpend and PriorCustomerAvgSpend.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dirty="0">
                <a:solidFill>
                  <a:srgbClr val="20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Calendar and demand features: month, quarter, day-of-week, monthly volume and seasonal indicator.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dirty="0">
                <a:solidFill>
                  <a:srgbClr val="20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WarehouseStockProxy, product breadth, shipment workload, employee count and OperationalLoadProxy.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dirty="0">
                <a:solidFill>
                  <a:srgbClr val="20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Targets/outcomes: DelayDays, IsDelayed, HasReturn. Outcome-derived DeliveryEfficiencyScore is never a delay predictor.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dirty="0">
                <a:solidFill>
                  <a:srgbClr val="20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InventoryTurnoverProxy is explicitly labelled because inventory is undated.</a:t>
            </a:r>
            <a:endParaRPr lang="en-US" sz="1450" dirty="0"/>
          </a:p>
        </p:txBody>
      </p:sp>
      <p:pic>
        <p:nvPicPr>
          <p:cNvPr id="6" name="Image 0" descr="/mnt/data/Week5_DataScience_SwiftLog_TakudzwaGumbo_FINAL/Visualizations/Charts/fig24_correlat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554480"/>
            <a:ext cx="4114800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5715000"/>
            <a:ext cx="10332720" cy="438912"/>
          </a:xfrm>
          <a:prstGeom prst="roundRect">
            <a:avLst/>
          </a:prstGeom>
          <a:solidFill>
            <a:srgbClr val="FFF8E5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5806440"/>
            <a:ext cx="10113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42A"/>
                </a:solidFill>
              </a:rPr>
              <a:t>Future modelling must re-fit any distribution-based feature inside training data only and exclude outcome-derived fields to avoid leakage.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7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Segmentation &amp; pattern discovery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7782"/>
                </a:solidFill>
              </a:rPr>
              <a:t>Exploratory clusters support differentiated management action — not causal claims.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06424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pic>
        <p:nvPicPr>
          <p:cNvPr id="5" name="Image 0" descr="/mnt/data/Week5_DataScience_SwiftLog_TakudzwaGumbo_FINAL/Visualizations/Charts/fig20_customer_seg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3703320" cy="3291840"/>
          </a:xfrm>
          <a:prstGeom prst="rect">
            <a:avLst/>
          </a:prstGeom>
        </p:spPr>
      </p:pic>
      <p:pic>
        <p:nvPicPr>
          <p:cNvPr id="6" name="Image 1" descr="/mnt/data/Week5_DataScience_SwiftLog_TakudzwaGumbo_FINAL/Visualizations/Charts/fig22_product_segm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417320"/>
            <a:ext cx="3703320" cy="3291840"/>
          </a:xfrm>
          <a:prstGeom prst="rect">
            <a:avLst/>
          </a:prstGeom>
        </p:spPr>
      </p:pic>
      <p:pic>
        <p:nvPicPr>
          <p:cNvPr id="7" name="Image 2" descr="/mnt/data/Week5_DataScience_SwiftLog_TakudzwaGumbo_FINAL/Visualizations/Charts/fig21_warehouse_segmen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417320"/>
            <a:ext cx="3703320" cy="32918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1520" y="4983480"/>
            <a:ext cx="1060704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220" dirty="0">
                <a:solidFill>
                  <a:srgbClr val="20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silhouette: 0.360 — clearest segmentation. High-Value Loyal contributes the largest total revenue (~$11.48m).</a:t>
            </a:r>
            <a:endParaRPr lang="en-US" sz="1220" dirty="0"/>
          </a:p>
          <a:p>
            <a:pPr marL="228600" indent="-228600">
              <a:buSzPct val="100000"/>
              <a:buChar char="•"/>
            </a:pPr>
            <a:r>
              <a:rPr lang="en-US" sz="1220" dirty="0">
                <a:solidFill>
                  <a:srgbClr val="20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silhouette: 0.330 — useful separation into leaders, premium revenue, volume drivers and long tail.</a:t>
            </a:r>
            <a:endParaRPr lang="en-US" sz="1220" dirty="0"/>
          </a:p>
          <a:p>
            <a:pPr marL="228600" indent="-228600">
              <a:buSzPct val="100000"/>
              <a:buChar char="•"/>
            </a:pPr>
            <a:r>
              <a:rPr lang="en-US" sz="1220" dirty="0">
                <a:solidFill>
                  <a:srgbClr val="20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Warehouse silhouette: 0.301 with only 15 warehouses — interpret cautiously.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7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Management priorities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7782"/>
                </a:solidFill>
              </a:rPr>
              <a:t>Recommendations are tied to observed evidence and documented data limitations.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06424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1069848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450" dirty="0">
                <a:solidFill>
                  <a:srgbClr val="20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Launch a focused delivery-delay reduction programme; monitor delayed rate and average delay weekly.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dirty="0">
                <a:solidFill>
                  <a:srgbClr val="20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Review W05/W09/W03 processes first, while treating warehouse ranking as diagnostic rather than causal.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dirty="0">
                <a:solidFill>
                  <a:srgbClr val="20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Prepare staffing and logistics capacity for August, the peak order and revenue month.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dirty="0">
                <a:solidFill>
                  <a:srgbClr val="20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Protect High-Value Loyal customers with service-level monitoring and retention activity.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dirty="0">
                <a:solidFill>
                  <a:srgbClr val="20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Use product segments for replenishment and portfolio prioritisation; protect Fashion availability.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dirty="0">
                <a:solidFill>
                  <a:srgbClr val="20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Improve returns handling around Late Delivery, Wrong Item and Damaged reasons.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dirty="0">
                <a:solidFill>
                  <a:srgbClr val="20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Add SupplierID links, true warehouse capacity, dated inventory snapshots and ProductID/OrderItemID on Returns.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dirty="0">
                <a:solidFill>
                  <a:srgbClr val="20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Resolve the 236 orders missing item detail before product/revenue models are operationalised.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7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takeaway &amp; future ML roadmap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7782"/>
                </a:solidFill>
              </a:rPr>
              <a:t>Week 5 delivers the analytical foundation — not an overclaimed predictive solution.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06424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527048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3B63"/>
                </a:solidFill>
              </a:rPr>
              <a:t>5,000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04088" y="192024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F7782"/>
                </a:solidFill>
              </a:rPr>
              <a:t>ORDERS PRESERVED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54680" y="141732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64408" y="1527048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3B63"/>
                </a:solidFill>
              </a:rPr>
              <a:t>63.7%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3264408" y="192024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F7782"/>
                </a:solidFill>
              </a:rPr>
              <a:t>DELAYED RATE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715000" y="141732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24728" y="1527048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3B63"/>
                </a:solidFill>
              </a:rPr>
              <a:t>$21.67m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5824728" y="192024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F7782"/>
                </a:solidFill>
              </a:rPr>
              <a:t>OBSERVED REVENUE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275320" y="141732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5048" y="1527048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3B63"/>
                </a:solidFill>
              </a:rPr>
              <a:t>20+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8385048" y="192024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F7782"/>
                </a:solidFill>
              </a:rPr>
              <a:t>EDA FIGURES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05840" y="2926080"/>
            <a:ext cx="1005840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0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Clean, reproducible order-level feature dataset delivered.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0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formal hypotheses tested and retained honestly as null findings.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0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Supplier, capacity, inventory-time and return-line gaps documented as priorities for better data collection.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0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ML opportunities: delivery-delay prediction, demand forecasting and return-risk modelling.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0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and notebook provide the reproducible handoff.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43400" y="5623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F3B63"/>
                </a:solidFill>
              </a:rPr>
              <a:t>Thank you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7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AnalystLab Africa Experience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SwiftLog Logistics Analytics &amp; AI Transformation</dc:title>
  <dc:subject>SwiftLog Week 5 Data Science Executive Presentation</dc:subject>
  <dc:creator>Takudzwa Jeffrey Gumbo</dc:creator>
  <cp:lastModifiedBy>Takudzwa Jeffrey Gumbo</cp:lastModifiedBy>
  <cp:revision>1</cp:revision>
  <dcterms:created xsi:type="dcterms:W3CDTF">2026-10-18T17:46:19Z</dcterms:created>
  <dcterms:modified xsi:type="dcterms:W3CDTF">2026-10-18T17:46:19Z</dcterms:modified>
</cp:coreProperties>
</file>